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3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914400"/>
            <a:ext cx="9997135"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280160"/>
            <a:ext cx="8869680" cy="4297680"/>
          </a:xfrm>
          <a:prstGeom prst="rect">
            <a:avLst/>
          </a:prstGeom>
          <a:noFill/>
        </p:spPr>
        <p:txBody>
          <a:bodyPr wrap="square">
            <a:spAutoFit/>
          </a:bodyPr>
          <a:lstStyle/>
          <a:p>
            <a:pPr>
              <a:spcAft>
                <a:spcPts val="1400"/>
              </a:spcAft>
              <a:defRPr sz="1200" b="1">
                <a:solidFill>
                  <a:srgbClr val="2980B9"/>
                </a:solidFill>
              </a:defRPr>
            </a:pPr>
            <a:r>
              <a:t>VOIS AICTE INTERNSHIP (2026–2027) | MAJOR PROJECT</a:t>
            </a:r>
          </a:p>
          <a:p>
            <a:pPr>
              <a:spcAft>
                <a:spcPts val="1000"/>
              </a:spcAft>
              <a:defRPr sz="3200" b="1">
                <a:solidFill>
                  <a:srgbClr val="203A43"/>
                </a:solidFill>
              </a:defRPr>
            </a:pPr>
            <a:r>
              <a:t>Seasonal Agriculture Performance Analysis</a:t>
            </a:r>
          </a:p>
          <a:p>
            <a:pPr>
              <a:spcAft>
                <a:spcPts val="3500"/>
              </a:spcAft>
              <a:defRPr sz="1500">
                <a:solidFill>
                  <a:srgbClr val="7F8C8D"/>
                </a:solidFill>
              </a:defRPr>
            </a:pPr>
            <a:r>
              <a:t>Investigating Climate, Resource Efficiency &amp; Economic Viability Across Kharif, Rabi &amp; Zaid Seasons</a:t>
            </a:r>
          </a:p>
          <a:p>
            <a:pPr>
              <a:defRPr sz="1400" b="1">
                <a:solidFill>
                  <a:srgbClr val="2C3E50"/>
                </a:solidFill>
              </a:defRPr>
            </a:pPr>
            <a:r>
              <a:t>Student Name: Aswini Kumar</a:t>
            </a:r>
          </a:p>
          <a:p>
            <a:pPr>
              <a:defRPr sz="1300">
                <a:solidFill>
                  <a:srgbClr val="2C3E50"/>
                </a:solidFill>
              </a:defRPr>
            </a:pPr>
            <a:r>
              <a:t>College Name: [Your College Name]</a:t>
            </a:r>
          </a:p>
          <a:p>
            <a:pPr>
              <a:defRPr sz="1300">
                <a:solidFill>
                  <a:srgbClr val="2C3E50"/>
                </a:solidFill>
              </a:defRPr>
            </a:pPr>
            <a:r>
              <a:t>AICTE STU ID: (Available in your offer letter)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Problem Statement</a:t>
            </a:r>
          </a:p>
        </p:txBody>
      </p:sp>
      <p:sp>
        <p:nvSpPr>
          <p:cNvPr id="3" name="Rounded Rectangle 2"/>
          <p:cNvSpPr/>
          <p:nvPr/>
        </p:nvSpPr>
        <p:spPr>
          <a:xfrm>
            <a:off x="731520" y="1463040"/>
            <a:ext cx="10728655"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37360"/>
            <a:ext cx="9966960" cy="4114800"/>
          </a:xfrm>
          <a:prstGeom prst="rect">
            <a:avLst/>
          </a:prstGeom>
          <a:noFill/>
        </p:spPr>
        <p:txBody>
          <a:bodyPr wrap="square">
            <a:spAutoFit/>
          </a:bodyPr>
          <a:lstStyle/>
          <a:p>
            <a:pPr>
              <a:spcAft>
                <a:spcPts val="1000"/>
              </a:spcAft>
              <a:defRPr sz="1600" b="1">
                <a:solidFill>
                  <a:srgbClr val="2980B9"/>
                </a:solidFill>
              </a:defRPr>
            </a:pPr>
            <a:r>
              <a:t>Background &amp; Context</a:t>
            </a:r>
          </a:p>
          <a:p>
            <a:pPr>
              <a:spcAft>
                <a:spcPts val="1500"/>
              </a:spcAft>
              <a:defRPr sz="1400">
                <a:solidFill>
                  <a:srgbClr val="2C3E50"/>
                </a:solidFill>
              </a:defRPr>
            </a:pPr>
            <a:r>
              <a:t>Agricultural activities are fundamentally influenced by seasonal variations in environmental conditions, farming practices, resource availability, and market conditions. As a result, agricultural performance differs substantially from one season to another.</a:t>
            </a:r>
          </a:p>
          <a:p>
            <a:pPr>
              <a:spcAft>
                <a:spcPts val="1000"/>
              </a:spcAft>
              <a:defRPr sz="1600" b="1">
                <a:solidFill>
                  <a:srgbClr val="2980B9"/>
                </a:solidFill>
              </a:defRPr>
            </a:pPr>
            <a:r>
              <a:t>The Core Challenge</a:t>
            </a:r>
          </a:p>
          <a:p>
            <a:pPr>
              <a:defRPr sz="1400">
                <a:solidFill>
                  <a:srgbClr val="2C3E50"/>
                </a:solidFill>
              </a:defRPr>
            </a:pPr>
            <a:r>
              <a:t>Raw agricultural data does not clearly explain how agricultural performance changes across seasons or what patterns can be observed in different seasonal conditions. The problem is to analyze the given multi-variable agricultural dataset and investigate seasonal differences in performance by identifying meaningful patterns, trends, relationships, and variations within the available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Project Description</a:t>
            </a:r>
          </a:p>
        </p:txBody>
      </p:sp>
      <p:sp>
        <p:nvSpPr>
          <p:cNvPr id="3" name="Rounded Rectangle 2"/>
          <p:cNvSpPr/>
          <p:nvPr/>
        </p:nvSpPr>
        <p:spPr>
          <a:xfrm>
            <a:off x="731520" y="1463040"/>
            <a:ext cx="3383280"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737360"/>
            <a:ext cx="2926080" cy="4206240"/>
          </a:xfrm>
          <a:prstGeom prst="rect">
            <a:avLst/>
          </a:prstGeom>
          <a:noFill/>
        </p:spPr>
        <p:txBody>
          <a:bodyPr wrap="square">
            <a:spAutoFit/>
          </a:bodyPr>
          <a:lstStyle/>
          <a:p>
            <a:pPr>
              <a:spcAft>
                <a:spcPts val="1400"/>
              </a:spcAft>
              <a:defRPr sz="1600" b="1">
                <a:solidFill>
                  <a:srgbClr val="2980B9"/>
                </a:solidFill>
              </a:defRPr>
            </a:pPr>
            <a:r>
              <a:t>1. Data Ingestion &amp; Cleaning</a:t>
            </a:r>
          </a:p>
          <a:p>
            <a:pPr>
              <a:defRPr sz="1300">
                <a:solidFill>
                  <a:srgbClr val="2C3E50"/>
                </a:solidFill>
              </a:defRPr>
            </a:pPr>
            <a:r>
              <a:t>Processes 28 agronomic and financial features across multiple Indian states and districts, resolving missing values via grouped median imputation.</a:t>
            </a:r>
          </a:p>
        </p:txBody>
      </p:sp>
      <p:sp>
        <p:nvSpPr>
          <p:cNvPr id="5" name="Rounded Rectangle 4"/>
          <p:cNvSpPr/>
          <p:nvPr/>
        </p:nvSpPr>
        <p:spPr>
          <a:xfrm>
            <a:off x="4389120" y="1463040"/>
            <a:ext cx="3383280"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1737360"/>
            <a:ext cx="2926080" cy="4206240"/>
          </a:xfrm>
          <a:prstGeom prst="rect">
            <a:avLst/>
          </a:prstGeom>
          <a:noFill/>
        </p:spPr>
        <p:txBody>
          <a:bodyPr wrap="square">
            <a:spAutoFit/>
          </a:bodyPr>
          <a:lstStyle/>
          <a:p>
            <a:pPr>
              <a:spcAft>
                <a:spcPts val="1400"/>
              </a:spcAft>
              <a:defRPr sz="1600" b="1">
                <a:solidFill>
                  <a:srgbClr val="2980B9"/>
                </a:solidFill>
              </a:defRPr>
            </a:pPr>
            <a:r>
              <a:t>2. Exploratory Seasonal Analysis</a:t>
            </a:r>
          </a:p>
          <a:p>
            <a:pPr>
              <a:defRPr sz="1300">
                <a:solidFill>
                  <a:srgbClr val="2C3E50"/>
                </a:solidFill>
              </a:defRPr>
            </a:pPr>
            <a:r>
              <a:t>Compares crop productivity, water consumption, and profit dynamics across Kharif (Monsoon), Rabi (Winter), and Zaid (Summer).</a:t>
            </a:r>
          </a:p>
        </p:txBody>
      </p:sp>
      <p:sp>
        <p:nvSpPr>
          <p:cNvPr id="7" name="Rounded Rectangle 6"/>
          <p:cNvSpPr/>
          <p:nvPr/>
        </p:nvSpPr>
        <p:spPr>
          <a:xfrm>
            <a:off x="8046720" y="1463040"/>
            <a:ext cx="3383280"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75320" y="1737360"/>
            <a:ext cx="2926080" cy="4206240"/>
          </a:xfrm>
          <a:prstGeom prst="rect">
            <a:avLst/>
          </a:prstGeom>
          <a:noFill/>
        </p:spPr>
        <p:txBody>
          <a:bodyPr wrap="square">
            <a:spAutoFit/>
          </a:bodyPr>
          <a:lstStyle/>
          <a:p>
            <a:pPr>
              <a:spcAft>
                <a:spcPts val="1400"/>
              </a:spcAft>
              <a:defRPr sz="1600" b="1">
                <a:solidFill>
                  <a:srgbClr val="2980B9"/>
                </a:solidFill>
              </a:defRPr>
            </a:pPr>
            <a:r>
              <a:t>3. Predictive ML Modeling</a:t>
            </a:r>
          </a:p>
          <a:p>
            <a:pPr>
              <a:defRPr sz="1300">
                <a:solidFill>
                  <a:srgbClr val="2C3E50"/>
                </a:solidFill>
              </a:defRPr>
            </a:pPr>
            <a:r>
              <a:t>Deploys Random Forest regression to quantify the relative importance of environmental, soil, and management inputs on crop yield.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Who Are the End Users?</a:t>
            </a:r>
          </a:p>
        </p:txBody>
      </p:sp>
      <p:sp>
        <p:nvSpPr>
          <p:cNvPr id="3" name="Rounded Rectangle 2"/>
          <p:cNvSpPr/>
          <p:nvPr/>
        </p:nvSpPr>
        <p:spPr>
          <a:xfrm>
            <a:off x="731520" y="1463040"/>
            <a:ext cx="52120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45920"/>
            <a:ext cx="4754880" cy="1920240"/>
          </a:xfrm>
          <a:prstGeom prst="rect">
            <a:avLst/>
          </a:prstGeom>
          <a:noFill/>
        </p:spPr>
        <p:txBody>
          <a:bodyPr wrap="square">
            <a:spAutoFit/>
          </a:bodyPr>
          <a:lstStyle/>
          <a:p>
            <a:pPr>
              <a:spcAft>
                <a:spcPts val="800"/>
              </a:spcAft>
              <a:defRPr sz="1500" b="1">
                <a:solidFill>
                  <a:srgbClr val="203A43"/>
                </a:solidFill>
              </a:defRPr>
            </a:pPr>
            <a:r>
              <a:t>🌾 Farmers &amp; Agri-Producers</a:t>
            </a:r>
          </a:p>
          <a:p>
            <a:pPr>
              <a:defRPr sz="1200">
                <a:solidFill>
                  <a:srgbClr val="2C3E50"/>
                </a:solidFill>
              </a:defRPr>
            </a:pPr>
            <a:r>
              <a:t>Gain actionable guidance on crop-season matching, optimal sowing windows, pest outbreak prevention, and micro-irrigation savings.</a:t>
            </a:r>
          </a:p>
        </p:txBody>
      </p:sp>
      <p:sp>
        <p:nvSpPr>
          <p:cNvPr id="5" name="Rounded Rectangle 4"/>
          <p:cNvSpPr/>
          <p:nvPr/>
        </p:nvSpPr>
        <p:spPr>
          <a:xfrm>
            <a:off x="6217920" y="1463040"/>
            <a:ext cx="52120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645920"/>
            <a:ext cx="4754880" cy="1920240"/>
          </a:xfrm>
          <a:prstGeom prst="rect">
            <a:avLst/>
          </a:prstGeom>
          <a:noFill/>
        </p:spPr>
        <p:txBody>
          <a:bodyPr wrap="square">
            <a:spAutoFit/>
          </a:bodyPr>
          <a:lstStyle/>
          <a:p>
            <a:pPr>
              <a:spcAft>
                <a:spcPts val="800"/>
              </a:spcAft>
              <a:defRPr sz="1500" b="1">
                <a:solidFill>
                  <a:srgbClr val="203A43"/>
                </a:solidFill>
              </a:defRPr>
            </a:pPr>
            <a:r>
              <a:t>🏛️ Government &amp; Policy Planners</a:t>
            </a:r>
          </a:p>
          <a:p>
            <a:pPr>
              <a:defRPr sz="1200">
                <a:solidFill>
                  <a:srgbClr val="2C3E50"/>
                </a:solidFill>
              </a:defRPr>
            </a:pPr>
            <a:r>
              <a:t>Formulate evidence-based subsidies for micro-irrigation infrastructure, regional water conservation, and agricultural planning.</a:t>
            </a:r>
          </a:p>
        </p:txBody>
      </p:sp>
      <p:sp>
        <p:nvSpPr>
          <p:cNvPr id="7" name="Rounded Rectangle 6"/>
          <p:cNvSpPr/>
          <p:nvPr/>
        </p:nvSpPr>
        <p:spPr>
          <a:xfrm>
            <a:off x="731520" y="3931920"/>
            <a:ext cx="52120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114800"/>
            <a:ext cx="4754880" cy="1920240"/>
          </a:xfrm>
          <a:prstGeom prst="rect">
            <a:avLst/>
          </a:prstGeom>
          <a:noFill/>
        </p:spPr>
        <p:txBody>
          <a:bodyPr wrap="square">
            <a:spAutoFit/>
          </a:bodyPr>
          <a:lstStyle/>
          <a:p>
            <a:pPr>
              <a:spcAft>
                <a:spcPts val="800"/>
              </a:spcAft>
              <a:defRPr sz="1500" b="1">
                <a:solidFill>
                  <a:srgbClr val="203A43"/>
                </a:solidFill>
              </a:defRPr>
            </a:pPr>
            <a:r>
              <a:t>📊 Agri-Fintech &amp; Insurance</a:t>
            </a:r>
          </a:p>
          <a:p>
            <a:pPr>
              <a:defRPr sz="1200">
                <a:solidFill>
                  <a:srgbClr val="2C3E50"/>
                </a:solidFill>
              </a:defRPr>
            </a:pPr>
            <a:r>
              <a:t>Leverage seasonal risk profiles to design localized crop insurance products and fair loan underwriting models.</a:t>
            </a:r>
          </a:p>
        </p:txBody>
      </p:sp>
      <p:sp>
        <p:nvSpPr>
          <p:cNvPr id="9" name="Rounded Rectangle 8"/>
          <p:cNvSpPr/>
          <p:nvPr/>
        </p:nvSpPr>
        <p:spPr>
          <a:xfrm>
            <a:off x="6217920" y="3931920"/>
            <a:ext cx="52120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4114800"/>
            <a:ext cx="4754880" cy="1920240"/>
          </a:xfrm>
          <a:prstGeom prst="rect">
            <a:avLst/>
          </a:prstGeom>
          <a:noFill/>
        </p:spPr>
        <p:txBody>
          <a:bodyPr wrap="square">
            <a:spAutoFit/>
          </a:bodyPr>
          <a:lstStyle/>
          <a:p>
            <a:pPr>
              <a:spcAft>
                <a:spcPts val="800"/>
              </a:spcAft>
              <a:defRPr sz="1500" b="1">
                <a:solidFill>
                  <a:srgbClr val="203A43"/>
                </a:solidFill>
              </a:defRPr>
            </a:pPr>
            <a:r>
              <a:t>🚚 Supply Chain &amp; Agribusiness</a:t>
            </a:r>
          </a:p>
          <a:p>
            <a:pPr>
              <a:defRPr sz="1200">
                <a:solidFill>
                  <a:srgbClr val="2C3E50"/>
                </a:solidFill>
              </a:defRPr>
            </a:pPr>
            <a:r>
              <a:t>Forecast harvest timelines, production volumes, and price variations across seasonal cycles for efficient procurement.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Technology Stack &amp; Architecture</a:t>
            </a:r>
          </a:p>
        </p:txBody>
      </p:sp>
      <p:sp>
        <p:nvSpPr>
          <p:cNvPr id="3" name="Rounded Rectangle 2"/>
          <p:cNvSpPr/>
          <p:nvPr/>
        </p:nvSpPr>
        <p:spPr>
          <a:xfrm>
            <a:off x="731520" y="1463040"/>
            <a:ext cx="33832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45920"/>
            <a:ext cx="2926080" cy="1920240"/>
          </a:xfrm>
          <a:prstGeom prst="rect">
            <a:avLst/>
          </a:prstGeom>
          <a:noFill/>
        </p:spPr>
        <p:txBody>
          <a:bodyPr wrap="square">
            <a:spAutoFit/>
          </a:bodyPr>
          <a:lstStyle/>
          <a:p>
            <a:pPr>
              <a:spcAft>
                <a:spcPts val="800"/>
              </a:spcAft>
              <a:defRPr sz="1500" b="1">
                <a:solidFill>
                  <a:srgbClr val="2980B9"/>
                </a:solidFill>
              </a:defRPr>
            </a:pPr>
            <a:r>
              <a:t>Python 3.13</a:t>
            </a:r>
          </a:p>
          <a:p>
            <a:pPr>
              <a:defRPr sz="1200">
                <a:solidFill>
                  <a:srgbClr val="2C3E50"/>
                </a:solidFill>
              </a:defRPr>
            </a:pPr>
            <a:r>
              <a:t>Core programming runtime for scalable scientific data processing.</a:t>
            </a:r>
          </a:p>
        </p:txBody>
      </p:sp>
      <p:sp>
        <p:nvSpPr>
          <p:cNvPr id="5" name="Rounded Rectangle 4"/>
          <p:cNvSpPr/>
          <p:nvPr/>
        </p:nvSpPr>
        <p:spPr>
          <a:xfrm>
            <a:off x="4389120" y="1463040"/>
            <a:ext cx="33832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1645920"/>
            <a:ext cx="2926080" cy="1920240"/>
          </a:xfrm>
          <a:prstGeom prst="rect">
            <a:avLst/>
          </a:prstGeom>
          <a:noFill/>
        </p:spPr>
        <p:txBody>
          <a:bodyPr wrap="square">
            <a:spAutoFit/>
          </a:bodyPr>
          <a:lstStyle/>
          <a:p>
            <a:pPr>
              <a:spcAft>
                <a:spcPts val="800"/>
              </a:spcAft>
              <a:defRPr sz="1500" b="1">
                <a:solidFill>
                  <a:srgbClr val="2980B9"/>
                </a:solidFill>
              </a:defRPr>
            </a:pPr>
            <a:r>
              <a:t>Pandas &amp; NumPy</a:t>
            </a:r>
          </a:p>
          <a:p>
            <a:pPr>
              <a:defRPr sz="1200">
                <a:solidFill>
                  <a:srgbClr val="2C3E50"/>
                </a:solidFill>
              </a:defRPr>
            </a:pPr>
            <a:r>
              <a:t>Data ingestion, group-wise median imputation, and economic feature engineering.</a:t>
            </a:r>
          </a:p>
        </p:txBody>
      </p:sp>
      <p:sp>
        <p:nvSpPr>
          <p:cNvPr id="7" name="Rounded Rectangle 6"/>
          <p:cNvSpPr/>
          <p:nvPr/>
        </p:nvSpPr>
        <p:spPr>
          <a:xfrm>
            <a:off x="8046720" y="1463040"/>
            <a:ext cx="33832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75320" y="1645920"/>
            <a:ext cx="2926080" cy="1920240"/>
          </a:xfrm>
          <a:prstGeom prst="rect">
            <a:avLst/>
          </a:prstGeom>
          <a:noFill/>
        </p:spPr>
        <p:txBody>
          <a:bodyPr wrap="square">
            <a:spAutoFit/>
          </a:bodyPr>
          <a:lstStyle/>
          <a:p>
            <a:pPr>
              <a:spcAft>
                <a:spcPts val="800"/>
              </a:spcAft>
              <a:defRPr sz="1500" b="1">
                <a:solidFill>
                  <a:srgbClr val="2980B9"/>
                </a:solidFill>
              </a:defRPr>
            </a:pPr>
            <a:r>
              <a:t>Matplotlib &amp; Seaborn</a:t>
            </a:r>
          </a:p>
          <a:p>
            <a:pPr>
              <a:defRPr sz="1200">
                <a:solidFill>
                  <a:srgbClr val="2C3E50"/>
                </a:solidFill>
              </a:defRPr>
            </a:pPr>
            <a:r>
              <a:t>High-resolution statistical visualizations and comparative trend charts.</a:t>
            </a:r>
          </a:p>
        </p:txBody>
      </p:sp>
      <p:sp>
        <p:nvSpPr>
          <p:cNvPr id="9" name="Rounded Rectangle 8"/>
          <p:cNvSpPr/>
          <p:nvPr/>
        </p:nvSpPr>
        <p:spPr>
          <a:xfrm>
            <a:off x="731520" y="3931920"/>
            <a:ext cx="33832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14800"/>
            <a:ext cx="2926080" cy="1920240"/>
          </a:xfrm>
          <a:prstGeom prst="rect">
            <a:avLst/>
          </a:prstGeom>
          <a:noFill/>
        </p:spPr>
        <p:txBody>
          <a:bodyPr wrap="square">
            <a:spAutoFit/>
          </a:bodyPr>
          <a:lstStyle/>
          <a:p>
            <a:pPr>
              <a:spcAft>
                <a:spcPts val="800"/>
              </a:spcAft>
              <a:defRPr sz="1500" b="1">
                <a:solidFill>
                  <a:srgbClr val="2980B9"/>
                </a:solidFill>
              </a:defRPr>
            </a:pPr>
            <a:r>
              <a:t>Scikit-Learn</a:t>
            </a:r>
          </a:p>
          <a:p>
            <a:pPr>
              <a:defRPr sz="1200">
                <a:solidFill>
                  <a:srgbClr val="2C3E50"/>
                </a:solidFill>
              </a:defRPr>
            </a:pPr>
            <a:r>
              <a:t>Random Forest Regressor for non-linear yield driver analysis &amp; feature ranking.</a:t>
            </a:r>
          </a:p>
        </p:txBody>
      </p:sp>
      <p:sp>
        <p:nvSpPr>
          <p:cNvPr id="11" name="Rounded Rectangle 10"/>
          <p:cNvSpPr/>
          <p:nvPr/>
        </p:nvSpPr>
        <p:spPr>
          <a:xfrm>
            <a:off x="4389120" y="3931920"/>
            <a:ext cx="33832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4114800"/>
            <a:ext cx="2926080" cy="1920240"/>
          </a:xfrm>
          <a:prstGeom prst="rect">
            <a:avLst/>
          </a:prstGeom>
          <a:noFill/>
        </p:spPr>
        <p:txBody>
          <a:bodyPr wrap="square">
            <a:spAutoFit/>
          </a:bodyPr>
          <a:lstStyle/>
          <a:p>
            <a:pPr>
              <a:spcAft>
                <a:spcPts val="800"/>
              </a:spcAft>
              <a:defRPr sz="1500" b="1">
                <a:solidFill>
                  <a:srgbClr val="2980B9"/>
                </a:solidFill>
              </a:defRPr>
            </a:pPr>
            <a:r>
              <a:t>Jupyter Notebook</a:t>
            </a:r>
          </a:p>
          <a:p>
            <a:pPr>
              <a:defRPr sz="1200">
                <a:solidFill>
                  <a:srgbClr val="2C3E50"/>
                </a:solidFill>
              </a:defRPr>
            </a:pPr>
            <a:r>
              <a:t>Interactive notebook environment (`analysis.ipynb`) for end-to-end reproducibility.</a:t>
            </a:r>
          </a:p>
        </p:txBody>
      </p:sp>
      <p:sp>
        <p:nvSpPr>
          <p:cNvPr id="13" name="Rounded Rectangle 12"/>
          <p:cNvSpPr/>
          <p:nvPr/>
        </p:nvSpPr>
        <p:spPr>
          <a:xfrm>
            <a:off x="8046720" y="3931920"/>
            <a:ext cx="33832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4114800"/>
            <a:ext cx="2926080" cy="1920240"/>
          </a:xfrm>
          <a:prstGeom prst="rect">
            <a:avLst/>
          </a:prstGeom>
          <a:noFill/>
        </p:spPr>
        <p:txBody>
          <a:bodyPr wrap="square">
            <a:spAutoFit/>
          </a:bodyPr>
          <a:lstStyle/>
          <a:p>
            <a:pPr>
              <a:spcAft>
                <a:spcPts val="800"/>
              </a:spcAft>
              <a:defRPr sz="1500" b="1">
                <a:solidFill>
                  <a:srgbClr val="2980B9"/>
                </a:solidFill>
              </a:defRPr>
            </a:pPr>
            <a:r>
              <a:t>Git &amp; GitHub</a:t>
            </a:r>
          </a:p>
          <a:p>
            <a:pPr>
              <a:defRPr sz="1200">
                <a:solidFill>
                  <a:srgbClr val="2C3E50"/>
                </a:solidFill>
              </a:defRPr>
            </a:pPr>
            <a:r>
              <a:t>Version control and public repository hosting for collaborative verification.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Key Findings &amp; Seasonal Results Overview</a:t>
            </a:r>
          </a:p>
        </p:txBody>
      </p:sp>
      <p:sp>
        <p:nvSpPr>
          <p:cNvPr id="3" name="Rounded Rectangle 2"/>
          <p:cNvSpPr/>
          <p:nvPr/>
        </p:nvSpPr>
        <p:spPr>
          <a:xfrm>
            <a:off x="731520" y="1463040"/>
            <a:ext cx="3383280"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45920"/>
            <a:ext cx="2926080" cy="4297680"/>
          </a:xfrm>
          <a:prstGeom prst="rect">
            <a:avLst/>
          </a:prstGeom>
          <a:noFill/>
        </p:spPr>
        <p:txBody>
          <a:bodyPr wrap="square">
            <a:spAutoFit/>
          </a:bodyPr>
          <a:lstStyle/>
          <a:p>
            <a:pPr>
              <a:spcAft>
                <a:spcPts val="1000"/>
              </a:spcAft>
              <a:defRPr sz="1600" b="1">
                <a:solidFill>
                  <a:srgbClr val="203A43"/>
                </a:solidFill>
              </a:defRPr>
            </a:pPr>
            <a:r>
              <a:t>🌧️ Kharif (Monsoon)</a:t>
            </a:r>
          </a:p>
          <a:p>
            <a:pPr>
              <a:spcAft>
                <a:spcPts val="400"/>
              </a:spcAft>
              <a:defRPr sz="1200">
                <a:solidFill>
                  <a:srgbClr val="2C3E50"/>
                </a:solidFill>
              </a:defRPr>
            </a:pPr>
            <a:r>
              <a:t>• Avg Yield: 4.15 Tonnes/Ha</a:t>
            </a:r>
          </a:p>
          <a:p>
            <a:pPr>
              <a:spcAft>
                <a:spcPts val="400"/>
              </a:spcAft>
              <a:defRPr sz="1200">
                <a:solidFill>
                  <a:srgbClr val="2C3E50"/>
                </a:solidFill>
              </a:defRPr>
            </a:pPr>
            <a:r>
              <a:t>• Rainfall: Peak (&gt;850 mm avg)</a:t>
            </a:r>
          </a:p>
          <a:p>
            <a:pPr>
              <a:spcAft>
                <a:spcPts val="400"/>
              </a:spcAft>
              <a:defRPr sz="1200">
                <a:solidFill>
                  <a:srgbClr val="2C3E50"/>
                </a:solidFill>
              </a:defRPr>
            </a:pPr>
            <a:r>
              <a:t>• Pest Risk: High (53.8% avg)</a:t>
            </a:r>
          </a:p>
          <a:p>
            <a:pPr>
              <a:spcAft>
                <a:spcPts val="400"/>
              </a:spcAft>
              <a:defRPr sz="1200">
                <a:solidFill>
                  <a:srgbClr val="2C3E50"/>
                </a:solidFill>
              </a:defRPr>
            </a:pPr>
            <a:r>
              <a:t>• Key Crops: Rice, Sugarcane, Cotton</a:t>
            </a:r>
          </a:p>
          <a:p>
            <a:pPr>
              <a:spcAft>
                <a:spcPts val="400"/>
              </a:spcAft>
              <a:defRPr sz="1200">
                <a:solidFill>
                  <a:srgbClr val="2C3E50"/>
                </a:solidFill>
              </a:defRPr>
            </a:pPr>
            <a:r>
              <a:t>• Insight: High moisture fosters disease; early pest alerts essential.</a:t>
            </a:r>
          </a:p>
        </p:txBody>
      </p:sp>
      <p:sp>
        <p:nvSpPr>
          <p:cNvPr id="5" name="Rounded Rectangle 4"/>
          <p:cNvSpPr/>
          <p:nvPr/>
        </p:nvSpPr>
        <p:spPr>
          <a:xfrm>
            <a:off x="4389120" y="1463040"/>
            <a:ext cx="3383280"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1645920"/>
            <a:ext cx="2926080" cy="4297680"/>
          </a:xfrm>
          <a:prstGeom prst="rect">
            <a:avLst/>
          </a:prstGeom>
          <a:noFill/>
        </p:spPr>
        <p:txBody>
          <a:bodyPr wrap="square">
            <a:spAutoFit/>
          </a:bodyPr>
          <a:lstStyle/>
          <a:p>
            <a:pPr>
              <a:spcAft>
                <a:spcPts val="1000"/>
              </a:spcAft>
              <a:defRPr sz="1600" b="1">
                <a:solidFill>
                  <a:srgbClr val="203A43"/>
                </a:solidFill>
              </a:defRPr>
            </a:pPr>
            <a:r>
              <a:t>❄️ Rabi (Winter)</a:t>
            </a:r>
          </a:p>
          <a:p>
            <a:pPr>
              <a:spcAft>
                <a:spcPts val="400"/>
              </a:spcAft>
              <a:defRPr sz="1200">
                <a:solidFill>
                  <a:srgbClr val="2C3E50"/>
                </a:solidFill>
              </a:defRPr>
            </a:pPr>
            <a:r>
              <a:t>• Avg Yield: 3.45 Tonnes/Ha</a:t>
            </a:r>
          </a:p>
          <a:p>
            <a:pPr>
              <a:spcAft>
                <a:spcPts val="400"/>
              </a:spcAft>
              <a:defRPr sz="1200">
                <a:solidFill>
                  <a:srgbClr val="2C3E50"/>
                </a:solidFill>
              </a:defRPr>
            </a:pPr>
            <a:r>
              <a:t>• Temp: Moderate (~23.5°C avg)</a:t>
            </a:r>
          </a:p>
          <a:p>
            <a:pPr>
              <a:spcAft>
                <a:spcPts val="400"/>
              </a:spcAft>
              <a:defRPr sz="1200">
                <a:solidFill>
                  <a:srgbClr val="2C3E50"/>
                </a:solidFill>
              </a:defRPr>
            </a:pPr>
            <a:r>
              <a:t>• Pest Risk: Low-Moderate (40.0%)</a:t>
            </a:r>
          </a:p>
          <a:p>
            <a:pPr>
              <a:spcAft>
                <a:spcPts val="400"/>
              </a:spcAft>
              <a:defRPr sz="1200">
                <a:solidFill>
                  <a:srgbClr val="2C3E50"/>
                </a:solidFill>
              </a:defRPr>
            </a:pPr>
            <a:r>
              <a:t>• Key Crops: Wheat, Pulses, Maize</a:t>
            </a:r>
          </a:p>
          <a:p>
            <a:pPr>
              <a:spcAft>
                <a:spcPts val="400"/>
              </a:spcAft>
              <a:defRPr sz="1200">
                <a:solidFill>
                  <a:srgbClr val="2C3E50"/>
                </a:solidFill>
              </a:defRPr>
            </a:pPr>
            <a:r>
              <a:t>• Insight: High economic stability and lower input loss rates.</a:t>
            </a:r>
          </a:p>
        </p:txBody>
      </p:sp>
      <p:sp>
        <p:nvSpPr>
          <p:cNvPr id="7" name="Rounded Rectangle 6"/>
          <p:cNvSpPr/>
          <p:nvPr/>
        </p:nvSpPr>
        <p:spPr>
          <a:xfrm>
            <a:off x="8046720" y="1463040"/>
            <a:ext cx="3383280"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75320" y="1645920"/>
            <a:ext cx="2926080" cy="4297680"/>
          </a:xfrm>
          <a:prstGeom prst="rect">
            <a:avLst/>
          </a:prstGeom>
          <a:noFill/>
        </p:spPr>
        <p:txBody>
          <a:bodyPr wrap="square">
            <a:spAutoFit/>
          </a:bodyPr>
          <a:lstStyle/>
          <a:p>
            <a:pPr>
              <a:spcAft>
                <a:spcPts val="1000"/>
              </a:spcAft>
              <a:defRPr sz="1600" b="1">
                <a:solidFill>
                  <a:srgbClr val="203A43"/>
                </a:solidFill>
              </a:defRPr>
            </a:pPr>
            <a:r>
              <a:t>☀️ Zaid (Summer)</a:t>
            </a:r>
          </a:p>
          <a:p>
            <a:pPr>
              <a:spcAft>
                <a:spcPts val="400"/>
              </a:spcAft>
              <a:defRPr sz="1200">
                <a:solidFill>
                  <a:srgbClr val="2C3E50"/>
                </a:solidFill>
              </a:defRPr>
            </a:pPr>
            <a:r>
              <a:t>• Avg Yield: 4.62 Tonnes/Ha</a:t>
            </a:r>
          </a:p>
          <a:p>
            <a:pPr>
              <a:spcAft>
                <a:spcPts val="400"/>
              </a:spcAft>
              <a:defRPr sz="1200">
                <a:solidFill>
                  <a:srgbClr val="2C3E50"/>
                </a:solidFill>
              </a:defRPr>
            </a:pPr>
            <a:r>
              <a:t>• Temp: Peak (&gt;31.8°C avg)</a:t>
            </a:r>
          </a:p>
          <a:p>
            <a:pPr>
              <a:spcAft>
                <a:spcPts val="400"/>
              </a:spcAft>
              <a:defRPr sz="1200">
                <a:solidFill>
                  <a:srgbClr val="2C3E50"/>
                </a:solidFill>
              </a:defRPr>
            </a:pPr>
            <a:r>
              <a:t>• Water Efficiency: Essential</a:t>
            </a:r>
          </a:p>
          <a:p>
            <a:pPr>
              <a:spcAft>
                <a:spcPts val="400"/>
              </a:spcAft>
              <a:defRPr sz="1200">
                <a:solidFill>
                  <a:srgbClr val="2C3E50"/>
                </a:solidFill>
              </a:defRPr>
            </a:pPr>
            <a:r>
              <a:t>• Key Crops: Chilli, Groundnut, Sugarcane</a:t>
            </a:r>
          </a:p>
          <a:p>
            <a:pPr>
              <a:spcAft>
                <a:spcPts val="400"/>
              </a:spcAft>
              <a:defRPr sz="1200">
                <a:solidFill>
                  <a:srgbClr val="2C3E50"/>
                </a:solidFill>
              </a:defRPr>
            </a:pPr>
            <a:r>
              <a:t>• Insight: Highly profitable under precision drip irrigation.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Macro Performance Comparison by Season</a:t>
            </a:r>
          </a:p>
        </p:txBody>
      </p:sp>
      <p:pic>
        <p:nvPicPr>
          <p:cNvPr id="3" name="Picture 2" descr="figure1_seasonal_macro_comparison.png"/>
          <p:cNvPicPr>
            <a:picLocks noChangeAspect="1"/>
          </p:cNvPicPr>
          <p:nvPr/>
        </p:nvPicPr>
        <p:blipFill>
          <a:blip r:embed="rId2"/>
          <a:stretch>
            <a:fillRect/>
          </a:stretch>
        </p:blipFill>
        <p:spPr>
          <a:xfrm>
            <a:off x="731520" y="1463040"/>
            <a:ext cx="6583680" cy="4684998"/>
          </a:xfrm>
          <a:prstGeom prst="rect">
            <a:avLst/>
          </a:prstGeom>
        </p:spPr>
      </p:pic>
      <p:sp>
        <p:nvSpPr>
          <p:cNvPr id="4" name="Rounded Rectangle 3"/>
          <p:cNvSpPr/>
          <p:nvPr/>
        </p:nvSpPr>
        <p:spPr>
          <a:xfrm>
            <a:off x="7589520" y="1463040"/>
            <a:ext cx="3840480"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0" y="1645920"/>
            <a:ext cx="3474720" cy="4297680"/>
          </a:xfrm>
          <a:prstGeom prst="rect">
            <a:avLst/>
          </a:prstGeom>
          <a:noFill/>
        </p:spPr>
        <p:txBody>
          <a:bodyPr wrap="square">
            <a:spAutoFit/>
          </a:bodyPr>
          <a:lstStyle/>
          <a:p>
            <a:pPr>
              <a:spcAft>
                <a:spcPts val="800"/>
              </a:spcAft>
              <a:defRPr sz="1500" b="1">
                <a:solidFill>
                  <a:srgbClr val="2980B9"/>
                </a:solidFill>
              </a:defRPr>
            </a:pPr>
            <a:r>
              <a:t>Key Observations</a:t>
            </a:r>
          </a:p>
          <a:p>
            <a:pPr>
              <a:spcAft>
                <a:spcPts val="600"/>
              </a:spcAft>
              <a:defRPr sz="1100">
                <a:solidFill>
                  <a:srgbClr val="2C3E50"/>
                </a:solidFill>
              </a:defRPr>
            </a:pPr>
            <a:r>
              <a:t>• Rainfall Peak: Kharif rainfall exceeds 850 mm, providing ample moisture for water-heavy crops.</a:t>
            </a:r>
          </a:p>
          <a:p>
            <a:pPr>
              <a:spcAft>
                <a:spcPts val="600"/>
              </a:spcAft>
              <a:defRPr sz="1100">
                <a:solidFill>
                  <a:srgbClr val="2C3E50"/>
                </a:solidFill>
              </a:defRPr>
            </a:pPr>
            <a:r>
              <a:t>• Yield Resilience: Zaid delivers strong yields (4.62 t/ha) when supplemental irrigation is provided.</a:t>
            </a:r>
          </a:p>
          <a:p>
            <a:pPr>
              <a:spcAft>
                <a:spcPts val="600"/>
              </a:spcAft>
              <a:defRPr sz="1100">
                <a:solidFill>
                  <a:srgbClr val="2C3E50"/>
                </a:solidFill>
              </a:defRPr>
            </a:pPr>
            <a:r>
              <a:t>• Water Efficiency Gap: Rabi and Zaid achieve higher water efficiency per unit volume than Kharif flood irrigation.</a:t>
            </a:r>
          </a:p>
          <a:p>
            <a:pPr>
              <a:spcAft>
                <a:spcPts val="600"/>
              </a:spcAft>
              <a:defRPr sz="1100">
                <a:solidFill>
                  <a:srgbClr val="2C3E50"/>
                </a:solidFill>
              </a:defRPr>
            </a:pPr>
            <a:r>
              <a:t>• Economic Return: Rabi yields the most predictable net profit margins across small and medium landholders.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Crop-Wise Yield &amp; Profitability Across Seasons</a:t>
            </a:r>
          </a:p>
        </p:txBody>
      </p:sp>
      <p:pic>
        <p:nvPicPr>
          <p:cNvPr id="3" name="Picture 2" descr="figure2_crop_performance_by_season.png"/>
          <p:cNvPicPr>
            <a:picLocks noChangeAspect="1"/>
          </p:cNvPicPr>
          <p:nvPr/>
        </p:nvPicPr>
        <p:blipFill>
          <a:blip r:embed="rId2"/>
          <a:stretch>
            <a:fillRect/>
          </a:stretch>
        </p:blipFill>
        <p:spPr>
          <a:xfrm>
            <a:off x="731520" y="1463040"/>
            <a:ext cx="6583680" cy="2435173"/>
          </a:xfrm>
          <a:prstGeom prst="rect">
            <a:avLst/>
          </a:prstGeom>
        </p:spPr>
      </p:pic>
      <p:sp>
        <p:nvSpPr>
          <p:cNvPr id="4" name="Rounded Rectangle 3"/>
          <p:cNvSpPr/>
          <p:nvPr/>
        </p:nvSpPr>
        <p:spPr>
          <a:xfrm>
            <a:off x="7589520" y="1463040"/>
            <a:ext cx="3840480"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0" y="1645920"/>
            <a:ext cx="3474720" cy="4297680"/>
          </a:xfrm>
          <a:prstGeom prst="rect">
            <a:avLst/>
          </a:prstGeom>
          <a:noFill/>
        </p:spPr>
        <p:txBody>
          <a:bodyPr wrap="square">
            <a:spAutoFit/>
          </a:bodyPr>
          <a:lstStyle/>
          <a:p>
            <a:pPr>
              <a:spcAft>
                <a:spcPts val="800"/>
              </a:spcAft>
              <a:defRPr sz="1500" b="1">
                <a:solidFill>
                  <a:srgbClr val="2980B9"/>
                </a:solidFill>
              </a:defRPr>
            </a:pPr>
            <a:r>
              <a:t>Crop Economics</a:t>
            </a:r>
          </a:p>
          <a:p>
            <a:pPr>
              <a:spcAft>
                <a:spcPts val="600"/>
              </a:spcAft>
              <a:defRPr sz="1100">
                <a:solidFill>
                  <a:srgbClr val="2C3E50"/>
                </a:solidFill>
              </a:defRPr>
            </a:pPr>
            <a:r>
              <a:t>• Top Profit Generators: Chilli and Sugarcane generate the highest profit per hectare (&gt;INR 50,000/ha).</a:t>
            </a:r>
          </a:p>
          <a:p>
            <a:pPr>
              <a:spcAft>
                <a:spcPts val="600"/>
              </a:spcAft>
              <a:defRPr sz="1100">
                <a:solidFill>
                  <a:srgbClr val="2C3E50"/>
                </a:solidFill>
              </a:defRPr>
            </a:pPr>
            <a:r>
              <a:t>• Reliable Staples: Wheat and Pulses maintain low input costs and consistent positive margins in Rabi.</a:t>
            </a:r>
          </a:p>
          <a:p>
            <a:pPr>
              <a:spcAft>
                <a:spcPts val="600"/>
              </a:spcAft>
              <a:defRPr sz="1100">
                <a:solidFill>
                  <a:srgbClr val="2C3E50"/>
                </a:solidFill>
              </a:defRPr>
            </a:pPr>
            <a:r>
              <a:t>• Loss Prevention: Flood-irrigated Rice in dry periods causes severe losses due to excessive water costs.</a:t>
            </a:r>
          </a:p>
          <a:p>
            <a:pPr>
              <a:spcAft>
                <a:spcPts val="600"/>
              </a:spcAft>
              <a:defRPr sz="1100">
                <a:solidFill>
                  <a:srgbClr val="2C3E50"/>
                </a:solidFill>
              </a:defRPr>
            </a:pPr>
            <a:r>
              <a:t>• Strategic Crop Mix: Crop rotation with pulses revitalizes soil nitrogen for subsequent Kharif cycles.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Environmental Factors &amp; Pest Vulnerability</a:t>
            </a:r>
          </a:p>
        </p:txBody>
      </p:sp>
      <p:pic>
        <p:nvPicPr>
          <p:cNvPr id="3" name="Picture 2" descr="figure3_environmental_pest_risk.png"/>
          <p:cNvPicPr>
            <a:picLocks noChangeAspect="1"/>
          </p:cNvPicPr>
          <p:nvPr/>
        </p:nvPicPr>
        <p:blipFill>
          <a:blip r:embed="rId2"/>
          <a:stretch>
            <a:fillRect/>
          </a:stretch>
        </p:blipFill>
        <p:spPr>
          <a:xfrm>
            <a:off x="731520" y="1463040"/>
            <a:ext cx="6583680" cy="2598938"/>
          </a:xfrm>
          <a:prstGeom prst="rect">
            <a:avLst/>
          </a:prstGeom>
        </p:spPr>
      </p:pic>
      <p:sp>
        <p:nvSpPr>
          <p:cNvPr id="4" name="Rounded Rectangle 3"/>
          <p:cNvSpPr/>
          <p:nvPr/>
        </p:nvSpPr>
        <p:spPr>
          <a:xfrm>
            <a:off x="7589520" y="1463040"/>
            <a:ext cx="3840480" cy="475488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0" y="1645920"/>
            <a:ext cx="3474720" cy="4297680"/>
          </a:xfrm>
          <a:prstGeom prst="rect">
            <a:avLst/>
          </a:prstGeom>
          <a:noFill/>
        </p:spPr>
        <p:txBody>
          <a:bodyPr wrap="square">
            <a:spAutoFit/>
          </a:bodyPr>
          <a:lstStyle/>
          <a:p>
            <a:pPr>
              <a:spcAft>
                <a:spcPts val="800"/>
              </a:spcAft>
              <a:defRPr sz="1500" b="1">
                <a:solidFill>
                  <a:srgbClr val="2980B9"/>
                </a:solidFill>
              </a:defRPr>
            </a:pPr>
            <a:r>
              <a:t>Risk Analysis</a:t>
            </a:r>
          </a:p>
          <a:p>
            <a:pPr>
              <a:spcAft>
                <a:spcPts val="600"/>
              </a:spcAft>
              <a:defRPr sz="1100">
                <a:solidFill>
                  <a:srgbClr val="2C3E50"/>
                </a:solidFill>
              </a:defRPr>
            </a:pPr>
            <a:r>
              <a:t>• Humidity Threshold: Humidity exceeding 70% during Kharif correlates with pest risk &gt; 60%.</a:t>
            </a:r>
          </a:p>
          <a:p>
            <a:pPr>
              <a:spcAft>
                <a:spcPts val="600"/>
              </a:spcAft>
              <a:defRPr sz="1100">
                <a:solidFill>
                  <a:srgbClr val="2C3E50"/>
                </a:solidFill>
              </a:defRPr>
            </a:pPr>
            <a:r>
              <a:t>• Thermal Dynamics: Rabi maintains comfortable temperatures (~23.5°C), reducing thermal stress.</a:t>
            </a:r>
          </a:p>
          <a:p>
            <a:pPr>
              <a:spcAft>
                <a:spcPts val="600"/>
              </a:spcAft>
              <a:defRPr sz="1100">
                <a:solidFill>
                  <a:srgbClr val="2C3E50"/>
                </a:solidFill>
              </a:defRPr>
            </a:pPr>
            <a:r>
              <a:t>• Summer Vulnerability: High Zaid temperatures (&gt;32°C) demand soil mulching and moisture conservation.</a:t>
            </a:r>
          </a:p>
          <a:p>
            <a:pPr>
              <a:spcAft>
                <a:spcPts val="600"/>
              </a:spcAft>
              <a:defRPr sz="1100">
                <a:solidFill>
                  <a:srgbClr val="2C3E50"/>
                </a:solidFill>
              </a:defRPr>
            </a:pPr>
            <a:r>
              <a:t>• Early Action: Automated alerts based on relative humidity can cut crop losses by up to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Irrigation Efficiency &amp; Machine Learning Drivers</a:t>
            </a:r>
          </a:p>
        </p:txBody>
      </p:sp>
      <p:pic>
        <p:nvPicPr>
          <p:cNvPr id="3" name="Picture 2" descr="figure4_irrigation_water_efficiency.png"/>
          <p:cNvPicPr>
            <a:picLocks noChangeAspect="1"/>
          </p:cNvPicPr>
          <p:nvPr/>
        </p:nvPicPr>
        <p:blipFill>
          <a:blip r:embed="rId2"/>
          <a:stretch>
            <a:fillRect/>
          </a:stretch>
        </p:blipFill>
        <p:spPr>
          <a:xfrm>
            <a:off x="731520" y="1463040"/>
            <a:ext cx="5212080" cy="2057492"/>
          </a:xfrm>
          <a:prstGeom prst="rect">
            <a:avLst/>
          </a:prstGeom>
        </p:spPr>
      </p:pic>
      <p:pic>
        <p:nvPicPr>
          <p:cNvPr id="4" name="Picture 3" descr="figure6_ml_yield_drivers.png"/>
          <p:cNvPicPr>
            <a:picLocks noChangeAspect="1"/>
          </p:cNvPicPr>
          <p:nvPr/>
        </p:nvPicPr>
        <p:blipFill>
          <a:blip r:embed="rId3"/>
          <a:stretch>
            <a:fillRect/>
          </a:stretch>
        </p:blipFill>
        <p:spPr>
          <a:xfrm>
            <a:off x="6217920" y="1463040"/>
            <a:ext cx="5212080" cy="309978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Future Scope &amp; Strategic Roadmap</a:t>
            </a:r>
          </a:p>
        </p:txBody>
      </p:sp>
      <p:sp>
        <p:nvSpPr>
          <p:cNvPr id="3" name="Rounded Rectangle 2"/>
          <p:cNvSpPr/>
          <p:nvPr/>
        </p:nvSpPr>
        <p:spPr>
          <a:xfrm>
            <a:off x="731520" y="1463040"/>
            <a:ext cx="52120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645920"/>
            <a:ext cx="4754880" cy="1920240"/>
          </a:xfrm>
          <a:prstGeom prst="rect">
            <a:avLst/>
          </a:prstGeom>
          <a:noFill/>
        </p:spPr>
        <p:txBody>
          <a:bodyPr wrap="square">
            <a:spAutoFit/>
          </a:bodyPr>
          <a:lstStyle/>
          <a:p>
            <a:pPr>
              <a:spcAft>
                <a:spcPts val="800"/>
              </a:spcAft>
              <a:defRPr sz="1500" b="1">
                <a:solidFill>
                  <a:srgbClr val="203A43"/>
                </a:solidFill>
              </a:defRPr>
            </a:pPr>
            <a:r>
              <a:t>🌐 IoT &amp; Soil Sensors</a:t>
            </a:r>
          </a:p>
          <a:p>
            <a:pPr>
              <a:defRPr sz="1200">
                <a:solidFill>
                  <a:srgbClr val="2C3E50"/>
                </a:solidFill>
              </a:defRPr>
            </a:pPr>
            <a:r>
              <a:t>Deploy in-situ IoT sensor networks for real-time soil moisture, NPK, and pH telemetry to automate drip irrigation.</a:t>
            </a:r>
          </a:p>
        </p:txBody>
      </p:sp>
      <p:sp>
        <p:nvSpPr>
          <p:cNvPr id="5" name="Rounded Rectangle 4"/>
          <p:cNvSpPr/>
          <p:nvPr/>
        </p:nvSpPr>
        <p:spPr>
          <a:xfrm>
            <a:off x="6217920" y="1463040"/>
            <a:ext cx="52120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46520" y="1645920"/>
            <a:ext cx="4754880" cy="1920240"/>
          </a:xfrm>
          <a:prstGeom prst="rect">
            <a:avLst/>
          </a:prstGeom>
          <a:noFill/>
        </p:spPr>
        <p:txBody>
          <a:bodyPr wrap="square">
            <a:spAutoFit/>
          </a:bodyPr>
          <a:lstStyle/>
          <a:p>
            <a:pPr>
              <a:spcAft>
                <a:spcPts val="800"/>
              </a:spcAft>
              <a:defRPr sz="1500" b="1">
                <a:solidFill>
                  <a:srgbClr val="203A43"/>
                </a:solidFill>
              </a:defRPr>
            </a:pPr>
            <a:r>
              <a:t>🛰️ Satellite Remote Sensing</a:t>
            </a:r>
          </a:p>
          <a:p>
            <a:pPr>
              <a:defRPr sz="1200">
                <a:solidFill>
                  <a:srgbClr val="2C3E50"/>
                </a:solidFill>
              </a:defRPr>
            </a:pPr>
            <a:r>
              <a:t>Integrate Sentinel-2 and Landsat multispectral imagery (NDVI/EVI) to monitor regional crop health and drought stress.</a:t>
            </a:r>
          </a:p>
        </p:txBody>
      </p:sp>
      <p:sp>
        <p:nvSpPr>
          <p:cNvPr id="7" name="Rounded Rectangle 6"/>
          <p:cNvSpPr/>
          <p:nvPr/>
        </p:nvSpPr>
        <p:spPr>
          <a:xfrm>
            <a:off x="731520" y="3931920"/>
            <a:ext cx="52120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114800"/>
            <a:ext cx="4754880" cy="1920240"/>
          </a:xfrm>
          <a:prstGeom prst="rect">
            <a:avLst/>
          </a:prstGeom>
          <a:noFill/>
        </p:spPr>
        <p:txBody>
          <a:bodyPr wrap="square">
            <a:spAutoFit/>
          </a:bodyPr>
          <a:lstStyle/>
          <a:p>
            <a:pPr>
              <a:spcAft>
                <a:spcPts val="800"/>
              </a:spcAft>
              <a:defRPr sz="1500" b="1">
                <a:solidFill>
                  <a:srgbClr val="203A43"/>
                </a:solidFill>
              </a:defRPr>
            </a:pPr>
            <a:r>
              <a:t>🌦️ Hyperlocal Weather AI</a:t>
            </a:r>
          </a:p>
          <a:p>
            <a:pPr>
              <a:defRPr sz="1200">
                <a:solidFill>
                  <a:srgbClr val="2C3E50"/>
                </a:solidFill>
              </a:defRPr>
            </a:pPr>
            <a:r>
              <a:t>Connect predictive weather APIs to issue 10-day early warnings for pest infestations and sudden rainfall deficits.</a:t>
            </a:r>
          </a:p>
        </p:txBody>
      </p:sp>
      <p:sp>
        <p:nvSpPr>
          <p:cNvPr id="9" name="Rounded Rectangle 8"/>
          <p:cNvSpPr/>
          <p:nvPr/>
        </p:nvSpPr>
        <p:spPr>
          <a:xfrm>
            <a:off x="6217920" y="3931920"/>
            <a:ext cx="5212080" cy="228600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4114800"/>
            <a:ext cx="4754880" cy="1920240"/>
          </a:xfrm>
          <a:prstGeom prst="rect">
            <a:avLst/>
          </a:prstGeom>
          <a:noFill/>
        </p:spPr>
        <p:txBody>
          <a:bodyPr wrap="square">
            <a:spAutoFit/>
          </a:bodyPr>
          <a:lstStyle/>
          <a:p>
            <a:pPr>
              <a:spcAft>
                <a:spcPts val="800"/>
              </a:spcAft>
              <a:defRPr sz="1500" b="1">
                <a:solidFill>
                  <a:srgbClr val="203A43"/>
                </a:solidFill>
              </a:defRPr>
            </a:pPr>
            <a:r>
              <a:t>📱 Farmer Advisory App</a:t>
            </a:r>
          </a:p>
          <a:p>
            <a:pPr>
              <a:defRPr sz="1200">
                <a:solidFill>
                  <a:srgbClr val="2C3E50"/>
                </a:solidFill>
              </a:defRPr>
            </a:pPr>
            <a:r>
              <a:t>Deliver localized crop recommendations, optimal sowing calendars, and mandi price forecasts directly to farmers' smartphones.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Project Source Code &amp; Repository</a:t>
            </a:r>
          </a:p>
        </p:txBody>
      </p:sp>
      <p:sp>
        <p:nvSpPr>
          <p:cNvPr id="3" name="Rounded Rectangle 2"/>
          <p:cNvSpPr/>
          <p:nvPr/>
        </p:nvSpPr>
        <p:spPr>
          <a:xfrm>
            <a:off x="1371600" y="1645920"/>
            <a:ext cx="9448495" cy="438912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011680"/>
            <a:ext cx="8503920" cy="3657600"/>
          </a:xfrm>
          <a:prstGeom prst="rect">
            <a:avLst/>
          </a:prstGeom>
          <a:noFill/>
        </p:spPr>
        <p:txBody>
          <a:bodyPr wrap="square">
            <a:spAutoFit/>
          </a:bodyPr>
          <a:lstStyle/>
          <a:p>
            <a:pPr>
              <a:spcAft>
                <a:spcPts val="1400"/>
              </a:spcAft>
              <a:defRPr sz="1800" b="1">
                <a:solidFill>
                  <a:srgbClr val="203A43"/>
                </a:solidFill>
              </a:defRPr>
            </a:pPr>
            <a:r>
              <a:t>Open Source Repository on GitHub</a:t>
            </a:r>
          </a:p>
          <a:p>
            <a:pPr>
              <a:spcAft>
                <a:spcPts val="2000"/>
              </a:spcAft>
              <a:defRPr sz="1600" b="1">
                <a:solidFill>
                  <a:srgbClr val="2980B9"/>
                </a:solidFill>
              </a:defRPr>
            </a:pPr>
            <a:r>
              <a:t>https://github.com/DILJEETSINGH07/Seasonal-Agriculture-Performance-Analysis</a:t>
            </a:r>
          </a:p>
          <a:p>
            <a:pPr>
              <a:spcAft>
                <a:spcPts val="600"/>
              </a:spcAft>
              <a:defRPr sz="1300">
                <a:solidFill>
                  <a:srgbClr val="2C3E50"/>
                </a:solidFill>
              </a:defRPr>
            </a:pPr>
            <a:r>
              <a:t>✔ Jupyter Notebook (`analysis.ipynb`) with complete data cleaning, visualization, and modeling steps.</a:t>
            </a:r>
          </a:p>
          <a:p>
            <a:pPr>
              <a:spcAft>
                <a:spcPts val="600"/>
              </a:spcAft>
              <a:defRPr sz="1300">
                <a:solidFill>
                  <a:srgbClr val="2C3E50"/>
                </a:solidFill>
              </a:defRPr>
            </a:pPr>
            <a:r>
              <a:t>✔ Automated data pipeline script (`run_full_analysis.py`) and dataset (`seasonal_agriculture_data.csv`).</a:t>
            </a:r>
          </a:p>
          <a:p>
            <a:pPr>
              <a:spcAft>
                <a:spcPts val="600"/>
              </a:spcAft>
              <a:defRPr sz="1300">
                <a:solidFill>
                  <a:srgbClr val="2C3E50"/>
                </a:solidFill>
              </a:defRPr>
            </a:pPr>
            <a:r>
              <a:t>✔ High-resolution presentation figures and complete documentation (`PROJECT_REPORT.md` &amp; `README.md`).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000" b="1">
                <a:solidFill>
                  <a:srgbClr val="2980B9"/>
                </a:solidFill>
              </a:defRPr>
            </a:pPr>
            <a:r>
              <a:t>VOIS AICTE BATCH 1 (2026-2027) | MAJOR PROJECT</a:t>
            </a:r>
          </a:p>
          <a:p>
            <a:pPr>
              <a:defRPr sz="2400" b="1">
                <a:solidFill>
                  <a:srgbClr val="203A43"/>
                </a:solidFill>
              </a:defRPr>
            </a:pPr>
            <a:r>
              <a:t>VOIS Course Completion Certificate</a:t>
            </a:r>
          </a:p>
        </p:txBody>
      </p:sp>
      <p:sp>
        <p:nvSpPr>
          <p:cNvPr id="3" name="Rounded Rectangle 2"/>
          <p:cNvSpPr/>
          <p:nvPr/>
        </p:nvSpPr>
        <p:spPr>
          <a:xfrm>
            <a:off x="1828800" y="1645920"/>
            <a:ext cx="8534095" cy="4389120"/>
          </a:xfrm>
          <a:prstGeom prst="roundRect">
            <a:avLst/>
          </a:prstGeom>
          <a:solidFill>
            <a:srgbClr val="F5F7FA"/>
          </a:solidFill>
          <a:ln w="12700">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2194560"/>
            <a:ext cx="7589520" cy="3200400"/>
          </a:xfrm>
          <a:prstGeom prst="rect">
            <a:avLst/>
          </a:prstGeom>
          <a:noFill/>
        </p:spPr>
        <p:txBody>
          <a:bodyPr wrap="square">
            <a:spAutoFit/>
          </a:bodyPr>
          <a:lstStyle/>
          <a:p>
            <a:pPr>
              <a:spcAft>
                <a:spcPts val="1500"/>
              </a:spcAft>
              <a:defRPr sz="2000" b="1">
                <a:solidFill>
                  <a:srgbClr val="203A43"/>
                </a:solidFill>
              </a:defRPr>
            </a:pPr>
            <a:r>
              <a:t>Course Name: Data Visualization</a:t>
            </a:r>
          </a:p>
          <a:p>
            <a:pPr>
              <a:spcAft>
                <a:spcPts val="1000"/>
              </a:spcAft>
              <a:defRPr sz="1500">
                <a:solidFill>
                  <a:srgbClr val="7F8C8D"/>
                </a:solidFill>
              </a:defRPr>
            </a:pPr>
            <a:r>
              <a:t>[ Paste your VOIS Data Visualization Certificate Image Here ]</a:t>
            </a:r>
          </a:p>
          <a:p>
            <a:pPr>
              <a:defRPr sz="1300">
                <a:solidFill>
                  <a:srgbClr val="2C3E50"/>
                </a:solidFill>
              </a:defRPr>
            </a:pPr>
            <a:r>
              <a:t>Issued as part of the VOIS AICTE Batch 1 (2026–2027) Internship Program.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03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286000" y="1371600"/>
            <a:ext cx="7619695"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0" y="2011680"/>
            <a:ext cx="6675120" cy="2926080"/>
          </a:xfrm>
          <a:prstGeom prst="rect">
            <a:avLst/>
          </a:prstGeom>
          <a:noFill/>
        </p:spPr>
        <p:txBody>
          <a:bodyPr wrap="square">
            <a:spAutoFit/>
          </a:bodyPr>
          <a:lstStyle/>
          <a:p>
            <a:pPr algn="ctr">
              <a:spcAft>
                <a:spcPts val="1500"/>
              </a:spcAft>
              <a:defRPr sz="3600" b="1">
                <a:solidFill>
                  <a:srgbClr val="203A43"/>
                </a:solidFill>
              </a:defRPr>
            </a:pPr>
            <a:r>
              <a:t>Thank You!</a:t>
            </a:r>
          </a:p>
          <a:p>
            <a:pPr algn="ctr">
              <a:spcAft>
                <a:spcPts val="1000"/>
              </a:spcAft>
              <a:defRPr sz="1600">
                <a:solidFill>
                  <a:srgbClr val="2980B9"/>
                </a:solidFill>
              </a:defRPr>
            </a:pPr>
            <a:r>
              <a:t>Seasonal Agriculture Performance Analysis</a:t>
            </a:r>
          </a:p>
          <a:p>
            <a:pPr algn="ctr">
              <a:defRPr sz="1400">
                <a:solidFill>
                  <a:srgbClr val="7F8C8D"/>
                </a:solidFill>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